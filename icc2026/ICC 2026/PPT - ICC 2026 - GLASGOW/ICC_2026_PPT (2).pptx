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C5D"/>
    <a:srgbClr val="0E8193"/>
    <a:srgbClr val="8A1538"/>
    <a:srgbClr val="00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27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0.png"/><Relationship Id="rId18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16.png"/><Relationship Id="rId7" Type="http://schemas.openxmlformats.org/officeDocument/2006/relationships/image" Target="../media/image3.jpeg"/><Relationship Id="rId12" Type="http://schemas.openxmlformats.org/officeDocument/2006/relationships/image" Target="../media/image8.png"/><Relationship Id="rId17" Type="http://schemas.openxmlformats.org/officeDocument/2006/relationships/image" Target="../media/image12.png"/><Relationship Id="rId25" Type="http://schemas.openxmlformats.org/officeDocument/2006/relationships/image" Target="../media/image20.png"/><Relationship Id="rId2" Type="http://schemas.openxmlformats.org/officeDocument/2006/relationships/video" Target="../media/media1.mp4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19.png"/><Relationship Id="rId5" Type="http://schemas.openxmlformats.org/officeDocument/2006/relationships/image" Target="../media/image1.png"/><Relationship Id="rId15" Type="http://schemas.openxmlformats.org/officeDocument/2006/relationships/image" Target="../media/image10.png"/><Relationship Id="rId23" Type="http://schemas.openxmlformats.org/officeDocument/2006/relationships/image" Target="../media/image18.png"/><Relationship Id="rId10" Type="http://schemas.openxmlformats.org/officeDocument/2006/relationships/image" Target="../media/image6.png"/><Relationship Id="rId19" Type="http://schemas.openxmlformats.org/officeDocument/2006/relationships/image" Target="../media/image14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Relationship Id="rId14" Type="http://schemas.openxmlformats.org/officeDocument/2006/relationships/image" Target="../media/image9.png"/><Relationship Id="rId2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3">
            <a:extLst>
              <a:ext uri="{FF2B5EF4-FFF2-40B4-BE49-F238E27FC236}">
                <a16:creationId xmlns:a16="http://schemas.microsoft.com/office/drawing/2014/main" id="{03F058B0-C2B4-0F73-AA5F-B2F842147ACA}"/>
              </a:ext>
            </a:extLst>
          </p:cNvPr>
          <p:cNvSpPr/>
          <p:nvPr/>
        </p:nvSpPr>
        <p:spPr>
          <a:xfrm>
            <a:off x="8100447" y="1451676"/>
            <a:ext cx="3814452" cy="4771324"/>
          </a:xfrm>
          <a:prstGeom prst="rect">
            <a:avLst/>
          </a:prstGeom>
          <a:solidFill>
            <a:srgbClr val="EAF4F8"/>
          </a:solidFill>
          <a:ln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8" name="Text 3">
            <a:extLst>
              <a:ext uri="{FF2B5EF4-FFF2-40B4-BE49-F238E27FC236}">
                <a16:creationId xmlns:a16="http://schemas.microsoft.com/office/drawing/2014/main" id="{D906590A-0988-DE01-A57A-89A98CF170C2}"/>
              </a:ext>
            </a:extLst>
          </p:cNvPr>
          <p:cNvSpPr/>
          <p:nvPr/>
        </p:nvSpPr>
        <p:spPr>
          <a:xfrm>
            <a:off x="4172605" y="1451676"/>
            <a:ext cx="3814452" cy="4771324"/>
          </a:xfrm>
          <a:prstGeom prst="rect">
            <a:avLst/>
          </a:prstGeom>
          <a:solidFill>
            <a:srgbClr val="EAF4F8"/>
          </a:solidFill>
          <a:ln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F2C958A-21EF-8413-F17A-4349A015F400}"/>
              </a:ext>
            </a:extLst>
          </p:cNvPr>
          <p:cNvSpPr/>
          <p:nvPr/>
        </p:nvSpPr>
        <p:spPr>
          <a:xfrm>
            <a:off x="277555" y="1451676"/>
            <a:ext cx="3787106" cy="4771324"/>
          </a:xfrm>
          <a:prstGeom prst="rect">
            <a:avLst/>
          </a:prstGeom>
          <a:solidFill>
            <a:srgbClr val="EAF4F8"/>
          </a:solidFill>
          <a:ln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2" name="Image 0" descr="/mnt/data/ppt_old_unzip/ppt/media/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61539"/>
            <a:ext cx="932688" cy="310896"/>
          </a:xfrm>
          <a:prstGeom prst="rect">
            <a:avLst/>
          </a:prstGeom>
        </p:spPr>
      </p:pic>
      <p:pic>
        <p:nvPicPr>
          <p:cNvPr id="3" name="Image 1" descr="/mnt/data/ppt_old_unzip/ppt/media/imag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" y="471335"/>
            <a:ext cx="878556" cy="310896"/>
          </a:xfrm>
          <a:prstGeom prst="rect">
            <a:avLst/>
          </a:prstGeom>
        </p:spPr>
      </p:pic>
      <p:pic>
        <p:nvPicPr>
          <p:cNvPr id="5" name="Image 3" descr="/mnt/data/ppt_old_unzip/ppt/media/image1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1214" y="162172"/>
            <a:ext cx="2255351" cy="62005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064764" y="75765"/>
            <a:ext cx="60624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OPTICAL WIRELESS </a:t>
            </a:r>
            <a:r>
              <a:rPr lang="en-US" sz="1400" b="1" dirty="0">
                <a:solidFill>
                  <a:srgbClr val="0B3C5D"/>
                </a:solidFill>
                <a:latin typeface="Aptos" pitchFamily="34" charset="0"/>
              </a:rPr>
              <a:t>POSITIONING WITH BEAM STEERING:</a:t>
            </a:r>
          </a:p>
          <a:p>
            <a:pPr algn="ctr"/>
            <a:r>
              <a:rPr lang="en-US" sz="1400" b="1" dirty="0">
                <a:solidFill>
                  <a:srgbClr val="0B3C5D"/>
                </a:solidFill>
                <a:latin typeface="Aptos" pitchFamily="34" charset="0"/>
              </a:rPr>
              <a:t>POSE ESTIMATION AND TILT ROBUSTNESS</a:t>
            </a:r>
          </a:p>
        </p:txBody>
      </p:sp>
      <p:sp>
        <p:nvSpPr>
          <p:cNvPr id="8" name="Text 2"/>
          <p:cNvSpPr/>
          <p:nvPr/>
        </p:nvSpPr>
        <p:spPr>
          <a:xfrm>
            <a:off x="2281428" y="511638"/>
            <a:ext cx="7635240" cy="36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Kevin Acuna-Condori, Bastien Béchadergue, Hongyu Guan, Luc Chassagne 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LISV, Université Paris-Saclay – UVSQ</a:t>
            </a:r>
            <a:endParaRPr lang="en-US" sz="1000" i="1" dirty="0"/>
          </a:p>
        </p:txBody>
      </p:sp>
      <p:sp>
        <p:nvSpPr>
          <p:cNvPr id="9" name="Text 3"/>
          <p:cNvSpPr/>
          <p:nvPr/>
        </p:nvSpPr>
        <p:spPr>
          <a:xfrm>
            <a:off x="280376" y="905256"/>
            <a:ext cx="11631248" cy="462444"/>
          </a:xfrm>
          <a:prstGeom prst="rect">
            <a:avLst/>
          </a:prstGeom>
          <a:solidFill>
            <a:srgbClr val="0B3C5D"/>
          </a:solidFill>
          <a:ln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claim: Steering diversity makes received signal strength (RSS)-based optical wireless positioning (OWP) </a:t>
            </a:r>
            <a:b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to receiver tilt and enables pose sensing.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365760" y="1501648"/>
            <a:ext cx="367588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ea typeface="Aptos" pitchFamily="34" charset="-122"/>
                <a:cs typeface="Arial" panose="020B0604020202020204" pitchFamily="34" charset="0"/>
              </a:rPr>
              <a:t>01  Problem &amp; Experimental Question</a:t>
            </a:r>
            <a:endParaRPr lang="en-US" sz="1400" dirty="0">
              <a:solidFill>
                <a:srgbClr val="0B3C5D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5"/>
              <p:cNvSpPr/>
              <p:nvPr/>
            </p:nvSpPr>
            <p:spPr>
              <a:xfrm>
                <a:off x="378968" y="1768853"/>
                <a:ext cx="3581400" cy="530352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Conventional RSS-based OWP assumes a vertical receiver.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Real devices tilt </a:t>
                </a:r>
                <a14:m>
                  <m:oMath xmlns:m="http://schemas.openxmlformats.org/officeDocument/2006/math">
                    <m:r>
                      <a:rPr lang="fr-FR" sz="1000" b="0" i="1" smtClean="0">
                        <a:solidFill>
                          <a:srgbClr val="4A4A4A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rial" panose="020B0604020202020204" pitchFamily="34" charset="0"/>
                      </a:rPr>
                      <m:t>→</m:t>
                    </m:r>
                  </m:oMath>
                </a14:m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 change in the optical channel </a:t>
                </a:r>
                <a:br>
                  <a:rPr lang="fr-FR" sz="1000" i="1" dirty="0">
                    <a:solidFill>
                      <a:srgbClr val="4A4A4A"/>
                    </a:solidFill>
                    <a:latin typeface="Cambria Math" panose="02040503050406030204" pitchFamily="18" charset="0"/>
                    <a:ea typeface="Aptos" pitchFamily="34" charset="-122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fr-FR" sz="1000" i="1">
                        <a:solidFill>
                          <a:srgbClr val="4A4A4A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rial" panose="020B0604020202020204" pitchFamily="34" charset="0"/>
                      </a:rPr>
                      <m:t>→</m:t>
                    </m:r>
                  </m:oMath>
                </a14:m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 multilateration becomes biased.</a:t>
                </a:r>
                <a:endParaRPr lang="en-US" sz="10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68" y="1768853"/>
                <a:ext cx="3581400" cy="530352"/>
              </a:xfrm>
              <a:prstGeom prst="rect">
                <a:avLst/>
              </a:prstGeom>
              <a:blipFill>
                <a:blip r:embed="rId8"/>
                <a:stretch>
                  <a:fillRect l="-2041" t="-1149" b="-8046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 4" descr="/mnt/data/icc2026/IEEE_ICC_2026_OWP_Tilt_Robustness/Fig_ICC/c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016" y="3007360"/>
            <a:ext cx="1056640" cy="1024128"/>
          </a:xfrm>
          <a:prstGeom prst="rect">
            <a:avLst/>
          </a:prstGeom>
        </p:spPr>
      </p:pic>
      <p:pic>
        <p:nvPicPr>
          <p:cNvPr id="14" name="Image 5" descr="/mnt/data/icc2026/IEEE_ICC_2026_OWP_Tilt_Robustness/Fig_ICC/c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5600" y="3007360"/>
            <a:ext cx="1056640" cy="1024128"/>
          </a:xfrm>
          <a:prstGeom prst="rect">
            <a:avLst/>
          </a:prstGeom>
        </p:spPr>
      </p:pic>
      <p:pic>
        <p:nvPicPr>
          <p:cNvPr id="15" name="Image 6" descr="/mnt/data/icc2026/IEEE_ICC_2026_OWP_Tilt_Robustness/Fig_ICC/c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9184" y="3007360"/>
            <a:ext cx="1056640" cy="102412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52552" y="4077208"/>
            <a:ext cx="1115568" cy="164592"/>
          </a:xfrm>
          <a:prstGeom prst="rect">
            <a:avLst/>
          </a:prstGeom>
          <a:solidFill>
            <a:srgbClr val="8A153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ea typeface="Aptos" pitchFamily="34" charset="-122"/>
                <a:cs typeface="Arial" panose="020B0604020202020204" pitchFamily="34" charset="0"/>
              </a:rPr>
              <a:t>MFL: 4 fixed LEDs</a:t>
            </a:r>
            <a:endParaRPr lang="en-US" sz="800" dirty="0">
              <a:cs typeface="Arial" panose="020B0604020202020204" pitchFamily="34" charset="0"/>
            </a:endParaRPr>
          </a:p>
        </p:txBody>
      </p:sp>
      <p:sp>
        <p:nvSpPr>
          <p:cNvPr id="17" name="Text 8"/>
          <p:cNvSpPr/>
          <p:nvPr/>
        </p:nvSpPr>
        <p:spPr>
          <a:xfrm>
            <a:off x="1596136" y="4077208"/>
            <a:ext cx="1115568" cy="164592"/>
          </a:xfrm>
          <a:prstGeom prst="rect">
            <a:avLst/>
          </a:prstGeom>
          <a:solidFill>
            <a:srgbClr val="006699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ea typeface="Aptos" pitchFamily="34" charset="-122"/>
                <a:cs typeface="Arial" panose="020B0604020202020204" pitchFamily="34" charset="0"/>
              </a:rPr>
              <a:t>SBL: 1 steerable LED</a:t>
            </a:r>
            <a:endParaRPr lang="en-US" sz="800" dirty="0">
              <a:cs typeface="Arial" panose="020B0604020202020204" pitchFamily="34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2839720" y="4077208"/>
            <a:ext cx="1161288" cy="164592"/>
          </a:xfrm>
          <a:prstGeom prst="rect">
            <a:avLst/>
          </a:prstGeom>
          <a:solidFill>
            <a:srgbClr val="0E819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ea typeface="Aptos" pitchFamily="34" charset="-122"/>
                <a:cs typeface="Arial" panose="020B0604020202020204" pitchFamily="34" charset="0"/>
              </a:rPr>
              <a:t>MBL: 2 steerable LEDs</a:t>
            </a:r>
            <a:endParaRPr lang="en-US" sz="800" dirty="0">
              <a:cs typeface="Arial" panose="020B0604020202020204" pitchFamily="34" charset="0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347943" y="4357344"/>
            <a:ext cx="36758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3C5D"/>
                </a:solidFill>
                <a:ea typeface="Aptos" pitchFamily="34" charset="-122"/>
                <a:cs typeface="Arial" panose="020B0604020202020204" pitchFamily="34" charset="0"/>
              </a:rPr>
              <a:t>Evaluation setup</a:t>
            </a:r>
            <a:endParaRPr lang="en-US" sz="1000" dirty="0">
              <a:solidFill>
                <a:srgbClr val="0B3C5D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11"/>
              <p:cNvSpPr/>
              <p:nvPr/>
            </p:nvSpPr>
            <p:spPr>
              <a:xfrm>
                <a:off x="352552" y="4521199"/>
                <a:ext cx="3597656" cy="683673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Same optical power, noise and workspace for all configurations. 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Receiver tilt is random up to 20°.</a:t>
                </a:r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Beam-steered cases use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solidFill>
                          <a:srgbClr val="4A4A4A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rial" panose="020B0604020202020204" pitchFamily="34" charset="0"/>
                      </a:rPr>
                      <m:t>𝐾</m:t>
                    </m:r>
                    <m:r>
                      <a:rPr lang="en-US" sz="1000" i="1" dirty="0" smtClean="0">
                        <a:solidFill>
                          <a:srgbClr val="4A4A4A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= 3 orientations.</a:t>
                </a:r>
                <a:endParaRPr lang="en-US" sz="1000" dirty="0"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52" y="4521199"/>
                <a:ext cx="3597656" cy="683673"/>
              </a:xfrm>
              <a:prstGeom prst="rect">
                <a:avLst/>
              </a:prstGeom>
              <a:blipFill>
                <a:blip r:embed="rId12"/>
                <a:stretch>
                  <a:fillRect l="-2034" t="-893" b="-6250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13"/>
              <p:cNvSpPr/>
              <p:nvPr/>
            </p:nvSpPr>
            <p:spPr>
              <a:xfrm>
                <a:off x="4281002" y="1501648"/>
                <a:ext cx="3675888" cy="292608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r>
                  <a:rPr lang="en-US" sz="1400" b="1" dirty="0">
                    <a:solidFill>
                      <a:srgbClr val="0B3C5D"/>
                    </a:solidFill>
                    <a:ea typeface="Aptos" pitchFamily="34" charset="-122"/>
                    <a:cs typeface="Arial" panose="020B0604020202020204" pitchFamily="34" charset="0"/>
                  </a:rPr>
                  <a:t>02  Method: Steer 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solidFill>
                          <a:srgbClr val="0B3C5D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rial" panose="020B0604020202020204" pitchFamily="34" charset="0"/>
                      </a:rPr>
                      <m:t>→</m:t>
                    </m:r>
                  </m:oMath>
                </a14:m>
                <a:r>
                  <a:rPr lang="en-US" sz="1400" b="1" dirty="0">
                    <a:solidFill>
                      <a:srgbClr val="0B3C5D"/>
                    </a:solidFill>
                    <a:ea typeface="Aptos" pitchFamily="34" charset="-122"/>
                    <a:cs typeface="Arial" panose="020B0604020202020204" pitchFamily="34" charset="0"/>
                  </a:rPr>
                  <a:t> Ratio </a:t>
                </a:r>
                <a14:m>
                  <m:oMath xmlns:m="http://schemas.openxmlformats.org/officeDocument/2006/math">
                    <m:r>
                      <a:rPr lang="fr-FR" sz="1400" b="1" i="1">
                        <a:solidFill>
                          <a:srgbClr val="0B3C5D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rial" panose="020B0604020202020204" pitchFamily="34" charset="0"/>
                      </a:rPr>
                      <m:t>→</m:t>
                    </m:r>
                  </m:oMath>
                </a14:m>
                <a:r>
                  <a:rPr lang="en-US" sz="1400" b="1" dirty="0">
                    <a:solidFill>
                      <a:srgbClr val="0B3C5D"/>
                    </a:solidFill>
                    <a:ea typeface="Aptos" pitchFamily="34" charset="-122"/>
                    <a:cs typeface="Arial" panose="020B0604020202020204" pitchFamily="34" charset="0"/>
                  </a:rPr>
                  <a:t> Solve</a:t>
                </a:r>
                <a:endParaRPr lang="en-US" sz="1400" dirty="0">
                  <a:solidFill>
                    <a:srgbClr val="0B3C5D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002" y="1501648"/>
                <a:ext cx="3675888" cy="292608"/>
              </a:xfrm>
              <a:prstGeom prst="rect">
                <a:avLst/>
              </a:prstGeom>
              <a:blipFill>
                <a:blip r:embed="rId13"/>
                <a:stretch>
                  <a:fillRect l="-2985" t="-4167" b="-25000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 7" descr="/mnt/data/icc2026/IEEE_ICC_2026_OWP_Tilt_Robustness/Fig_ICC/diagramLEDP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1002" y="1844228"/>
            <a:ext cx="1299254" cy="17168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14"/>
              <p:cNvSpPr/>
              <p:nvPr/>
            </p:nvSpPr>
            <p:spPr>
              <a:xfrm>
                <a:off x="5680406" y="1819656"/>
                <a:ext cx="2228437" cy="1780992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171450" indent="-1714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Steering the LED </a:t>
                </a: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changes the RSS through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000" i="1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𝜙</m:t>
                        </m:r>
                      </m:e>
                      <m:sub>
                        <m:r>
                          <a:rPr lang="es-PE" sz="1000" b="0" i="1" smtClean="0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s-PE" sz="1000" b="0" i="1" smtClean="0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PE" sz="1000" b="0" i="1" smtClean="0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 but keeps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000" b="0" i="1" dirty="0" smtClean="0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sz="1000" b="0" i="1" dirty="0" smtClean="0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rial" panose="020B0604020202020204" pitchFamily="34" charset="0"/>
                          </a:rPr>
                          <m:t>𝜓</m:t>
                        </m:r>
                      </m:e>
                      <m:sub>
                        <m:r>
                          <a:rPr lang="fr-FR" sz="1000" b="0" i="1" dirty="0" smtClean="0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 common across orientations.</a:t>
                </a:r>
              </a:p>
              <a:p>
                <a:pPr marL="171450" indent="-1714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RSS ratios </a:t>
                </a: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cancel the receiver-incidence factor, i.e., </a:t>
                </a:r>
                <a:r>
                  <a:rPr lang="en-US" sz="1000" b="1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depend only on the receiver position</a:t>
                </a: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.</a:t>
                </a:r>
              </a:p>
              <a:p>
                <a:pPr marL="171450" indent="-1714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Multiple RSS ratios form a </a:t>
                </a:r>
                <a:r>
                  <a:rPr lang="en-US" sz="1000" b="1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linear system</a:t>
                </a: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 solved by </a:t>
                </a:r>
                <a:r>
                  <a:rPr lang="en-US" sz="1000" b="1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singular value decomposition</a:t>
                </a: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With </a:t>
                </a:r>
                <a:r>
                  <a:rPr lang="en-US" sz="1000" b="1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≥ 2 steerable LEDs</a:t>
                </a:r>
                <a:r>
                  <a:rPr lang="en-US" sz="1000" dirty="0">
                    <a:solidFill>
                      <a:srgbClr val="4A4A4A"/>
                    </a:solidFill>
                    <a:ea typeface="Aptos" pitchFamily="34" charset="-122"/>
                    <a:cs typeface="Arial" panose="020B0604020202020204" pitchFamily="34" charset="0"/>
                  </a:rPr>
                  <a:t>, pose estimation also becomes possible.</a:t>
                </a:r>
                <a:endParaRPr lang="en-US" sz="10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406" y="1819656"/>
                <a:ext cx="2228437" cy="1780992"/>
              </a:xfrm>
              <a:prstGeom prst="rect">
                <a:avLst/>
              </a:prstGeom>
              <a:blipFill>
                <a:blip r:embed="rId15"/>
                <a:stretch>
                  <a:fillRect l="-3288" t="-1712" b="-3767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23"/>
          <p:cNvSpPr/>
          <p:nvPr/>
        </p:nvSpPr>
        <p:spPr>
          <a:xfrm>
            <a:off x="4297680" y="5623560"/>
            <a:ext cx="211074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25"/>
          <p:cNvSpPr/>
          <p:nvPr/>
        </p:nvSpPr>
        <p:spPr>
          <a:xfrm>
            <a:off x="8194010" y="1591056"/>
            <a:ext cx="367588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ea typeface="Aptos" pitchFamily="34" charset="-122"/>
                <a:cs typeface="Arial" panose="020B0604020202020204" pitchFamily="34" charset="0"/>
              </a:rPr>
              <a:t>03  Results: Robustness to Receiver Tilt Uncertainty</a:t>
            </a:r>
            <a:endParaRPr lang="en-US" sz="1400" dirty="0">
              <a:solidFill>
                <a:srgbClr val="0B3C5D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 26"/>
              <p:cNvSpPr/>
              <p:nvPr/>
            </p:nvSpPr>
            <p:spPr>
              <a:xfrm>
                <a:off x="8247888" y="2054352"/>
                <a:ext cx="3675888" cy="164592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1100" b="1" dirty="0">
                    <a:solidFill>
                      <a:srgbClr val="0E8193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Tilted-PD simulation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1" i="1" dirty="0" smtClean="0">
                            <a:solidFill>
                              <a:srgbClr val="0E8193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100" b="1" i="1" dirty="0" smtClean="0">
                            <a:solidFill>
                              <a:srgbClr val="0E8193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rial" panose="020B0604020202020204" pitchFamily="34" charset="0"/>
                          </a:rPr>
                          <m:t>𝑷</m:t>
                        </m:r>
                      </m:e>
                      <m:sub>
                        <m:r>
                          <a:rPr lang="en-US" sz="1100" b="1" i="1" dirty="0" smtClean="0">
                            <a:solidFill>
                              <a:srgbClr val="0E8193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rial" panose="020B0604020202020204" pitchFamily="34" charset="0"/>
                          </a:rPr>
                          <m:t>𝟗𝟎</m:t>
                        </m:r>
                      </m:sub>
                    </m:sSub>
                  </m:oMath>
                </a14:m>
                <a:endParaRPr 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7" name="Tex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7888" y="2054352"/>
                <a:ext cx="3675888" cy="164592"/>
              </a:xfrm>
              <a:prstGeom prst="rect">
                <a:avLst/>
              </a:prstGeom>
              <a:blipFill>
                <a:blip r:embed="rId16"/>
                <a:stretch>
                  <a:fillRect l="-2322" t="-33333" b="-51852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 27"/>
          <p:cNvSpPr/>
          <p:nvPr/>
        </p:nvSpPr>
        <p:spPr>
          <a:xfrm>
            <a:off x="8275320" y="2255521"/>
            <a:ext cx="1078992" cy="375814"/>
          </a:xfrm>
          <a:prstGeom prst="rect">
            <a:avLst/>
          </a:prstGeom>
          <a:solidFill>
            <a:srgbClr val="0B3C5D">
              <a:alpha val="20000"/>
            </a:srgb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1538"/>
                </a:solidFill>
                <a:ea typeface="Aptos" pitchFamily="34" charset="-122"/>
                <a:cs typeface="Arial" panose="020B0604020202020204" pitchFamily="34" charset="0"/>
              </a:rPr>
              <a:t>34.45 cm</a:t>
            </a:r>
            <a:endParaRPr lang="en-US" sz="1200" dirty="0"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8A1538"/>
                </a:solidFill>
                <a:ea typeface="Aptos" pitchFamily="34" charset="-122"/>
                <a:cs typeface="Arial" panose="020B0604020202020204" pitchFamily="34" charset="0"/>
              </a:rPr>
              <a:t>MFL</a:t>
            </a:r>
            <a:endParaRPr lang="en-US" sz="1200" dirty="0">
              <a:cs typeface="Arial" panose="020B0604020202020204" pitchFamily="34" charset="0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9454896" y="2255520"/>
            <a:ext cx="1078992" cy="375815"/>
          </a:xfrm>
          <a:prstGeom prst="rect">
            <a:avLst/>
          </a:prstGeom>
          <a:solidFill>
            <a:srgbClr val="0B3C5D">
              <a:alpha val="20000"/>
            </a:srgb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699"/>
                </a:solidFill>
                <a:ea typeface="Aptos" pitchFamily="34" charset="-122"/>
                <a:cs typeface="Arial" panose="020B0604020202020204" pitchFamily="34" charset="0"/>
              </a:rPr>
              <a:t>3.16 cm</a:t>
            </a:r>
            <a:endParaRPr lang="en-US" sz="1200" dirty="0"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06699"/>
                </a:solidFill>
                <a:ea typeface="Aptos" pitchFamily="34" charset="-122"/>
                <a:cs typeface="Arial" panose="020B0604020202020204" pitchFamily="34" charset="0"/>
              </a:rPr>
              <a:t>SBL</a:t>
            </a:r>
            <a:endParaRPr lang="en-US" sz="1200" dirty="0">
              <a:cs typeface="Arial" panose="020B0604020202020204" pitchFamily="34" charset="0"/>
            </a:endParaRPr>
          </a:p>
        </p:txBody>
      </p:sp>
      <p:sp>
        <p:nvSpPr>
          <p:cNvPr id="40" name="Text 29"/>
          <p:cNvSpPr/>
          <p:nvPr/>
        </p:nvSpPr>
        <p:spPr>
          <a:xfrm>
            <a:off x="10634472" y="2255520"/>
            <a:ext cx="1078992" cy="375815"/>
          </a:xfrm>
          <a:prstGeom prst="rect">
            <a:avLst/>
          </a:prstGeom>
          <a:solidFill>
            <a:srgbClr val="0B3C5D">
              <a:alpha val="20000"/>
            </a:srgb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193"/>
                </a:solidFill>
                <a:ea typeface="Aptos" pitchFamily="34" charset="-122"/>
                <a:cs typeface="Arial" panose="020B0604020202020204" pitchFamily="34" charset="0"/>
              </a:rPr>
              <a:t>1.61 cm</a:t>
            </a:r>
            <a:endParaRPr lang="en-US" sz="1200" dirty="0">
              <a:solidFill>
                <a:srgbClr val="0E8193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E8193"/>
                </a:solidFill>
                <a:ea typeface="Aptos" pitchFamily="34" charset="-122"/>
                <a:cs typeface="Arial" panose="020B0604020202020204" pitchFamily="34" charset="0"/>
              </a:rPr>
              <a:t>MBL</a:t>
            </a:r>
            <a:endParaRPr lang="en-US" sz="12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 30"/>
              <p:cNvSpPr/>
              <p:nvPr/>
            </p:nvSpPr>
            <p:spPr>
              <a:xfrm>
                <a:off x="8223624" y="2601467"/>
                <a:ext cx="3658466" cy="627889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Autofit/>
              </a:bodyPr>
              <a:lstStyle/>
              <a:p>
                <a:pPr marL="171450" indent="-171450" algn="l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solidFill>
                      <a:srgbClr val="4A4A4A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SBL</a:t>
                </a:r>
                <a:r>
                  <a:rPr lang="en-US" sz="1000" dirty="0">
                    <a:solidFill>
                      <a:srgbClr val="4A4A4A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 reduces tilted-position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PE" sz="1000" b="0" i="1" smtClean="0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s-PE" sz="1000" b="0" i="1" smtClean="0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90</m:t>
                        </m:r>
                      </m:sub>
                    </m:sSub>
                  </m:oMath>
                </a14:m>
                <a:r>
                  <a:rPr lang="en-US" sz="1000" dirty="0">
                    <a:solidFill>
                      <a:srgbClr val="4A4A4A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 by </a:t>
                </a:r>
                <a:r>
                  <a:rPr lang="en-US" sz="1000" b="1" dirty="0">
                    <a:solidFill>
                      <a:srgbClr val="4A4A4A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10.9x</a:t>
                </a:r>
                <a:r>
                  <a:rPr lang="en-US" sz="1000" dirty="0">
                    <a:solidFill>
                      <a:srgbClr val="4A4A4A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 compared to MFL.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b="1" dirty="0">
                    <a:solidFill>
                      <a:srgbClr val="4A4A4A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MBL</a:t>
                </a:r>
                <a:r>
                  <a:rPr lang="en-US" sz="1000" dirty="0">
                    <a:solidFill>
                      <a:srgbClr val="4A4A4A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 achieves a </a:t>
                </a:r>
                <a:r>
                  <a:rPr lang="en-US" sz="1000" b="1" dirty="0">
                    <a:solidFill>
                      <a:srgbClr val="4A4A4A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21.4x</a:t>
                </a:r>
                <a:r>
                  <a:rPr lang="en-US" sz="1000" dirty="0">
                    <a:solidFill>
                      <a:srgbClr val="4A4A4A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 error reduction over MFL while enabling precise receiver orientation estimation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PE" sz="1000" i="1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s-PE" sz="1000" i="1">
                            <a:solidFill>
                              <a:srgbClr val="4A4A4A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90</m:t>
                        </m:r>
                      </m:sub>
                    </m:sSub>
                    <m:r>
                      <a:rPr lang="es-PE" sz="1000" b="0" i="1" smtClean="0">
                        <a:solidFill>
                          <a:srgbClr val="4A4A4A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PE" sz="1000" i="1">
                        <a:solidFill>
                          <a:srgbClr val="4A4A4A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2.07</m:t>
                    </m:r>
                    <m:r>
                      <a:rPr lang="es-PE" sz="1000" i="1" smtClean="0">
                        <a:solidFill>
                          <a:srgbClr val="4A4A4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US" sz="1000" dirty="0">
                    <a:solidFill>
                      <a:srgbClr val="4A4A4A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).</a:t>
                </a: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1" name="Tex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624" y="2601467"/>
                <a:ext cx="3658466" cy="627889"/>
              </a:xfrm>
              <a:prstGeom prst="rect">
                <a:avLst/>
              </a:prstGeom>
              <a:blipFill>
                <a:blip r:embed="rId17"/>
                <a:stretch>
                  <a:fillRect l="-2000" r="-333"/>
                </a:stretch>
              </a:blipFill>
              <a:ln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31"/>
          <p:cNvSpPr/>
          <p:nvPr/>
        </p:nvSpPr>
        <p:spPr>
          <a:xfrm>
            <a:off x="8211312" y="3233244"/>
            <a:ext cx="36758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8193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Error heatmaps under random tilt (0-20°)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Image 9" descr="/mnt/data/icc2026/IEEE_ICC_2026_OWP_Tilt_Robustness/Fig_ICC/heatmap/c1-tilt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47888" y="3434638"/>
            <a:ext cx="925276" cy="941832"/>
          </a:xfrm>
          <a:prstGeom prst="rect">
            <a:avLst/>
          </a:prstGeom>
        </p:spPr>
      </p:pic>
      <p:pic>
        <p:nvPicPr>
          <p:cNvPr id="44" name="Image 10" descr="/mnt/data/icc2026/IEEE_ICC_2026_OWP_Tilt_Robustness/Fig_ICC/heatmap/c2-tilt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3879" y="3434638"/>
            <a:ext cx="934401" cy="941832"/>
          </a:xfrm>
          <a:prstGeom prst="rect">
            <a:avLst/>
          </a:prstGeom>
        </p:spPr>
      </p:pic>
      <p:pic>
        <p:nvPicPr>
          <p:cNvPr id="45" name="Image 11" descr="/mnt/data/icc2026/IEEE_ICC_2026_OWP_Tilt_Robustness/Fig_ICC/heatmap/c3-tilt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85228" y="3434638"/>
            <a:ext cx="925211" cy="941832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8344766" y="4407966"/>
            <a:ext cx="731520" cy="146304"/>
          </a:xfrm>
          <a:prstGeom prst="rect">
            <a:avLst/>
          </a:prstGeom>
          <a:solidFill>
            <a:srgbClr val="8A1538"/>
          </a:solidFill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MFL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33"/>
          <p:cNvSpPr/>
          <p:nvPr/>
        </p:nvSpPr>
        <p:spPr>
          <a:xfrm>
            <a:off x="9475319" y="4407966"/>
            <a:ext cx="731520" cy="146304"/>
          </a:xfrm>
          <a:prstGeom prst="rect">
            <a:avLst/>
          </a:prstGeom>
          <a:solidFill>
            <a:srgbClr val="006699"/>
          </a:solidFill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SBL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34"/>
          <p:cNvSpPr/>
          <p:nvPr/>
        </p:nvSpPr>
        <p:spPr>
          <a:xfrm>
            <a:off x="10676049" y="4389678"/>
            <a:ext cx="731520" cy="146304"/>
          </a:xfrm>
          <a:prstGeom prst="rect">
            <a:avLst/>
          </a:prstGeom>
          <a:solidFill>
            <a:srgbClr val="0E8193"/>
          </a:solidFill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MBL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35"/>
          <p:cNvSpPr/>
          <p:nvPr/>
        </p:nvSpPr>
        <p:spPr>
          <a:xfrm>
            <a:off x="8239011" y="4640473"/>
            <a:ext cx="367588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8193"/>
                </a:solidFill>
                <a:latin typeface="+mj-lt"/>
                <a:ea typeface="Aptos" pitchFamily="34" charset="-122"/>
                <a:cs typeface="Arial" panose="020B0604020202020204" pitchFamily="34" charset="0"/>
              </a:rPr>
              <a:t>Experimental SBL validation</a:t>
            </a:r>
            <a:endParaRPr lang="en-US" sz="11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0" name="Image 12" descr="/mnt/data/icc2026/IEEE_ICC_2026_OWP_Tilt_Robustness/Fig_ICC/compar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39328" y="4825228"/>
            <a:ext cx="1966425" cy="1308985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10532031" y="4812128"/>
            <a:ext cx="1069848" cy="394872"/>
          </a:xfrm>
          <a:prstGeom prst="rect">
            <a:avLst/>
          </a:prstGeom>
          <a:solidFill>
            <a:srgbClr val="0B3C5D">
              <a:alpha val="20000"/>
            </a:srgbClr>
          </a:solidFill>
          <a:ln/>
        </p:spPr>
        <p:txBody>
          <a:bodyPr wrap="square" lIns="191" tIns="191" rIns="191" bIns="19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1538"/>
                </a:solidFill>
                <a:ea typeface="Aptos" pitchFamily="34" charset="-122"/>
                <a:cs typeface="Arial" panose="020B0604020202020204" pitchFamily="34" charset="0"/>
              </a:rPr>
              <a:t>RMSE</a:t>
            </a:r>
            <a:endParaRPr lang="en-US" sz="1200" dirty="0">
              <a:solidFill>
                <a:srgbClr val="8A1538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8A1538"/>
                </a:solidFill>
                <a:ea typeface="Aptos" pitchFamily="34" charset="-122"/>
                <a:cs typeface="Arial" panose="020B0604020202020204" pitchFamily="34" charset="0"/>
              </a:rPr>
              <a:t>2.66 cm</a:t>
            </a:r>
            <a:endParaRPr lang="en-US" sz="1200" dirty="0">
              <a:solidFill>
                <a:srgbClr val="8A1538"/>
              </a:solidFill>
              <a:cs typeface="Arial" panose="020B0604020202020204" pitchFamily="34" charset="0"/>
            </a:endParaRPr>
          </a:p>
        </p:txBody>
      </p:sp>
      <p:sp>
        <p:nvSpPr>
          <p:cNvPr id="52" name="Text 37"/>
          <p:cNvSpPr/>
          <p:nvPr/>
        </p:nvSpPr>
        <p:spPr>
          <a:xfrm>
            <a:off x="10532031" y="5303401"/>
            <a:ext cx="1069848" cy="371905"/>
          </a:xfrm>
          <a:prstGeom prst="rect">
            <a:avLst/>
          </a:prstGeom>
          <a:solidFill>
            <a:srgbClr val="0B3C5D">
              <a:alpha val="20000"/>
            </a:srgbClr>
          </a:solidFill>
          <a:ln/>
        </p:spPr>
        <p:txBody>
          <a:bodyPr wrap="square" lIns="191" tIns="191" rIns="191" bIns="19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699"/>
                </a:solidFill>
                <a:ea typeface="Aptos" pitchFamily="34" charset="-122"/>
                <a:cs typeface="Arial" panose="020B0604020202020204" pitchFamily="34" charset="0"/>
              </a:rPr>
              <a:t>APE</a:t>
            </a:r>
            <a:endParaRPr lang="en-US" sz="1200" dirty="0"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06699"/>
                </a:solidFill>
                <a:ea typeface="Aptos" pitchFamily="34" charset="-122"/>
                <a:cs typeface="Arial" panose="020B0604020202020204" pitchFamily="34" charset="0"/>
              </a:rPr>
              <a:t>2.35 cm</a:t>
            </a:r>
            <a:endParaRPr lang="en-US" sz="1200" dirty="0">
              <a:cs typeface="Arial" panose="020B0604020202020204" pitchFamily="34" charset="0"/>
            </a:endParaRPr>
          </a:p>
        </p:txBody>
      </p:sp>
      <p:sp>
        <p:nvSpPr>
          <p:cNvPr id="53" name="Text 38"/>
          <p:cNvSpPr/>
          <p:nvPr/>
        </p:nvSpPr>
        <p:spPr>
          <a:xfrm>
            <a:off x="10532031" y="5756067"/>
            <a:ext cx="1069848" cy="371904"/>
          </a:xfrm>
          <a:prstGeom prst="rect">
            <a:avLst/>
          </a:prstGeom>
          <a:solidFill>
            <a:srgbClr val="0B3C5D">
              <a:alpha val="20000"/>
            </a:srgbClr>
          </a:solidFill>
          <a:ln/>
        </p:spPr>
        <p:txBody>
          <a:bodyPr wrap="square" lIns="191" tIns="191" rIns="191" bIns="191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193"/>
                </a:solidFill>
                <a:ea typeface="Aptos" pitchFamily="34" charset="-122"/>
                <a:cs typeface="Arial" panose="020B0604020202020204" pitchFamily="34" charset="0"/>
              </a:rPr>
              <a:t>WRMS</a:t>
            </a:r>
            <a:endParaRPr lang="en-US" sz="1200" dirty="0">
              <a:solidFill>
                <a:srgbClr val="0E8193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0E8193"/>
                </a:solidFill>
                <a:ea typeface="Aptos" pitchFamily="34" charset="-122"/>
                <a:cs typeface="Arial" panose="020B0604020202020204" pitchFamily="34" charset="0"/>
              </a:rPr>
              <a:t>0.48 cm</a:t>
            </a:r>
            <a:endParaRPr lang="en-US" sz="1200" dirty="0">
              <a:solidFill>
                <a:srgbClr val="0E8193"/>
              </a:solidFill>
              <a:cs typeface="Arial" panose="020B0604020202020204" pitchFamily="34" charset="0"/>
            </a:endParaRPr>
          </a:p>
        </p:txBody>
      </p:sp>
      <p:sp>
        <p:nvSpPr>
          <p:cNvPr id="54" name="Text 39"/>
          <p:cNvSpPr/>
          <p:nvPr/>
        </p:nvSpPr>
        <p:spPr>
          <a:xfrm>
            <a:off x="274320" y="6316072"/>
            <a:ext cx="11631248" cy="443445"/>
          </a:xfrm>
          <a:prstGeom prst="rect">
            <a:avLst/>
          </a:prstGeom>
          <a:solidFill>
            <a:srgbClr val="0B3C5D"/>
          </a:solidFill>
          <a:ln/>
        </p:spPr>
        <p:txBody>
          <a:bodyPr wrap="square" lIns="445" tIns="445" rIns="445" bIns="445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SBL is the low-complexity tilt-robust option; MBL is the accuracy/pose-sensing option.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Beam steering is the enabling degree of freedom for practical OWP.</a:t>
            </a:r>
            <a:endParaRPr lang="en-US" sz="14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74E7D369-2823-F071-24D4-022D0B77C77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95204" y="3433151"/>
            <a:ext cx="187826" cy="941832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DD60BC02-54C1-1423-8689-B0F60DF5322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8377" y="203906"/>
            <a:ext cx="1549486" cy="530763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0827C986-2E6D-5E22-351C-600E20D0278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23667" y="126129"/>
            <a:ext cx="661289" cy="661289"/>
          </a:xfrm>
          <a:prstGeom prst="rect">
            <a:avLst/>
          </a:prstGeom>
        </p:spPr>
      </p:pic>
      <p:sp>
        <p:nvSpPr>
          <p:cNvPr id="65" name="Text 3">
            <a:extLst>
              <a:ext uri="{FF2B5EF4-FFF2-40B4-BE49-F238E27FC236}">
                <a16:creationId xmlns:a16="http://schemas.microsoft.com/office/drawing/2014/main" id="{8A671CBE-A49F-4FFB-9DD7-90D955E73A9D}"/>
              </a:ext>
            </a:extLst>
          </p:cNvPr>
          <p:cNvSpPr/>
          <p:nvPr/>
        </p:nvSpPr>
        <p:spPr>
          <a:xfrm>
            <a:off x="365760" y="2351423"/>
            <a:ext cx="3594608" cy="540393"/>
          </a:xfrm>
          <a:prstGeom prst="rect">
            <a:avLst/>
          </a:prstGeom>
          <a:solidFill>
            <a:srgbClr val="0B3C5D">
              <a:alpha val="20000"/>
            </a:srgbClr>
          </a:solidFill>
          <a:ln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432271" y="2389629"/>
            <a:ext cx="3483394" cy="466344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dirty="0">
                <a:ea typeface="Aptos" pitchFamily="34" charset="-122"/>
                <a:cs typeface="Arial" panose="020B0604020202020204" pitchFamily="34" charset="0"/>
              </a:rPr>
              <a:t>Question: </a:t>
            </a:r>
            <a:r>
              <a:rPr lang="en-US" sz="1100" dirty="0">
                <a:ea typeface="Aptos" pitchFamily="34" charset="-122"/>
                <a:cs typeface="Arial" panose="020B0604020202020204" pitchFamily="34" charset="0"/>
              </a:rPr>
              <a:t>Can a controlled LED beam provide enough angular diversity to remove the tilt penalty without adding dense infrastructure?</a:t>
            </a:r>
            <a:endParaRPr lang="en-US" sz="1100" dirty="0">
              <a:cs typeface="Arial" panose="020B0604020202020204" pitchFamily="34" charset="0"/>
            </a:endParaRPr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id="{BD54E4BA-4D4A-843B-A662-25D83F2E2257}"/>
              </a:ext>
            </a:extLst>
          </p:cNvPr>
          <p:cNvSpPr/>
          <p:nvPr/>
        </p:nvSpPr>
        <p:spPr>
          <a:xfrm>
            <a:off x="365760" y="5356352"/>
            <a:ext cx="3594608" cy="591646"/>
          </a:xfrm>
          <a:prstGeom prst="rect">
            <a:avLst/>
          </a:prstGeom>
          <a:solidFill>
            <a:srgbClr val="0B3C5D">
              <a:alpha val="20000"/>
            </a:srgbClr>
          </a:solidFill>
          <a:ln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434105" y="5332650"/>
            <a:ext cx="3481560" cy="615348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ea typeface="Aptos" pitchFamily="34" charset="-122"/>
                <a:cs typeface="Arial" panose="020B0604020202020204" pitchFamily="34" charset="0"/>
              </a:rPr>
              <a:t>Why it matters? </a:t>
            </a:r>
          </a:p>
          <a:p>
            <a:pPr marL="0" indent="0" algn="ctr">
              <a:buNone/>
            </a:pPr>
            <a:r>
              <a:rPr lang="en-US" sz="1100" dirty="0">
                <a:ea typeface="Aptos" pitchFamily="34" charset="-122"/>
                <a:cs typeface="Arial" panose="020B0604020202020204" pitchFamily="34" charset="0"/>
              </a:rPr>
              <a:t>Indoor OWP/VLP systems are attractive, but robustness to practical device pose is a bottleneck.</a:t>
            </a:r>
            <a:endParaRPr lang="en-US" sz="1100" dirty="0">
              <a:cs typeface="Arial" panose="020B0604020202020204" pitchFamily="34" charset="0"/>
            </a:endParaRPr>
          </a:p>
        </p:txBody>
      </p:sp>
      <p:pic>
        <p:nvPicPr>
          <p:cNvPr id="67" name="OPTI-6G_ Neural Network-Powered Position Detection via Optical Beam Steering">
            <a:hlinkClick r:id="" action="ppaction://media"/>
            <a:extLst>
              <a:ext uri="{FF2B5EF4-FFF2-40B4-BE49-F238E27FC236}">
                <a16:creationId xmlns:a16="http://schemas.microsoft.com/office/drawing/2014/main" id="{3E11581F-04B4-7F3F-803A-2CBAE23CBE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4276245" y="3907643"/>
            <a:ext cx="3607172" cy="20290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220" fill="hold"/>
                                        <p:tgtEl>
                                          <p:spTgt spid="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345</Words>
  <Application>Microsoft Office PowerPoint</Application>
  <PresentationFormat>Grand écran</PresentationFormat>
  <Paragraphs>47</Paragraphs>
  <Slides>1</Slides>
  <Notes>1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Arial</vt:lpstr>
      <vt:lpstr>Cambria Math</vt:lpstr>
      <vt:lpstr>Office Theme</vt:lpstr>
      <vt:lpstr>Présentation PowerPoint</vt:lpstr>
    </vt:vector>
  </TitlesOfParts>
  <Company>LISV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Optical Wireless Positioning With Beam Steering</dc:title>
  <dc:subject>ICC 2026 poster session interactive slide</dc:subject>
  <dc:creator>OpenAI</dc:creator>
  <cp:lastModifiedBy>Bastien Bechadergue</cp:lastModifiedBy>
  <cp:revision>14</cp:revision>
  <dcterms:created xsi:type="dcterms:W3CDTF">2026-05-25T13:32:09Z</dcterms:created>
  <dcterms:modified xsi:type="dcterms:W3CDTF">2026-05-26T06:04:39Z</dcterms:modified>
</cp:coreProperties>
</file>