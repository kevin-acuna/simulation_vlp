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8" r:id="rId4"/>
    <p:sldId id="259" r:id="rId5"/>
    <p:sldId id="261" r:id="rId6"/>
    <p:sldId id="260" r:id="rId7"/>
    <p:sldId id="263" r:id="rId8"/>
    <p:sldId id="257" r:id="rId9"/>
    <p:sldId id="262" r:id="rId1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23812-B243-1512-D59E-0B41E6C53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60B15-3585-F33A-55F1-6DBC1663E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2F987-D27D-4171-3AF2-05275D703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0BA5-85AF-4731-8B85-965B897921BA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DE0F0-83AF-3DD0-6DA8-4156DBA76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8A18C-F220-B4CE-2EEB-31BC6E0EE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16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9F1D3-9433-41BD-66AD-8EB522AD9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32ACF-83D2-D0D4-80BB-0C9866556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A668D-6F8D-DE0C-F006-2453C7CEF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0BA5-85AF-4731-8B85-965B897921BA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DB054-E044-C0EE-78EE-12308CDA9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EE828-D48D-AD78-1377-1D592F25E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7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CF4F6-F653-B67E-A838-221DD8252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2A8AE-C939-CCB3-9D6D-28E0BC0BC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A90A0-9229-78FD-6272-FDE6654A8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0BA5-85AF-4731-8B85-965B897921BA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DB6A2-CA6E-3E17-5C2A-6AC294966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E5ED4-24A1-5F73-4E4F-C5572701F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543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4CC0F-3ECA-B5DA-0296-8AAB3CC6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FC88A-DFAC-700D-6FE1-9AAA8D8A5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F24DE-1086-DDC5-4C99-6200C178E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00C7B1-EAD5-61EA-AAA9-57CA65813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0BA5-85AF-4731-8B85-965B897921BA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C5B49-A0F8-1DBD-EBE6-AE861A279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0D640-08C7-9045-5357-CB1A33ED6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81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D4DC7-E73D-D568-694B-C44B247AB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51548-22DB-2363-F998-96E868409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E51BD-3276-E2AE-169E-16FA68BFB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676DE9-B616-A433-4100-C33544BB73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C18257-65A0-2158-0D17-15F690D0A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894E04-E9B4-09EB-CE91-57DC59E43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0BA5-85AF-4731-8B85-965B897921BA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78376F-9517-7496-7DF3-98A66C168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9E3CC-06D9-34C2-5DA8-6815E2D3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00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0A161-6BB0-AD56-74A3-BAEBA7DE1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FEFF56-AE2D-9683-BCA1-A28BEE00A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0BA5-85AF-4731-8B85-965B897921BA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2FA8FE-016C-72B2-A11B-BC0124BAF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2C269-EBAC-CD29-DDD7-0911E7CAE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12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33F230-02C7-E0BF-BE79-2B7BA8257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0BA5-85AF-4731-8B85-965B897921BA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CCCCDC-0EB2-D2CA-E551-5616A90A7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34F16-60D0-26EC-87D0-F9D3FECA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716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88783-1EB2-F9A7-9684-2BC694009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EE4CC-0513-8F5D-3BA3-61BEAF63D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4CFBE-A4D4-7484-316F-DCE10E603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72663-110E-43A1-949A-B152C56AE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0BA5-85AF-4731-8B85-965B897921BA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876B9-41E8-8E13-F2A0-A757A702D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64CE6-AFD8-4233-4CF7-D9CBF328D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98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6FA7B-BB91-F46C-A020-845777658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2FB41C-EEBF-7B9E-5DFC-CF78A6CAE9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14683-3474-43E4-CE74-72844908D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58839-3B20-73FB-D936-E5322FF6F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0BA5-85AF-4731-8B85-965B897921BA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81E8B-0B69-D22F-DF19-459D62073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D0196-9B79-BDAD-0EF1-A82120848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86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94614-04D9-B53B-60D4-340C24DBA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4457F0-6E62-7E3A-3890-C79EE4634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E3234-61C9-2D0D-AAE4-1FE52F74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0BA5-85AF-4731-8B85-965B897921BA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AC7B9-EA3D-C74E-17BB-D2B6C45C3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AA57E-8FF0-E55C-CC0B-A8E551446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371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E92D52-6B0A-EC59-EA45-0B6DAB665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F6DA7-522D-3B8F-8AA4-FAF0E468F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6A4D3-E200-FB2A-5809-F225B5B23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0BA5-85AF-4731-8B85-965B897921BA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EBD8E-6FB4-C4DC-CDA0-63F94526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49FC9-4783-1FF0-E6F3-77FE0947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2BA9A4-E523-63D2-8E98-899281318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75B2A-9E4B-DA2A-7E2F-49B828A25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EEFB6-458E-E3BD-7D65-D76F450EC2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4F0BA5-85AF-4731-8B85-965B897921BA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91530-C535-DDE5-A13F-E5490561BB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366D2-AF33-7F71-D74F-F728BC8C48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2F4E3-25D6-4962-8DF3-60A5DB65C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520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CE5A6-A247-FD47-29AA-01618CC4D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91304"/>
            <a:ext cx="9144000" cy="2387600"/>
          </a:xfrm>
        </p:spPr>
        <p:txBody>
          <a:bodyPr>
            <a:noAutofit/>
          </a:bodyPr>
          <a:lstStyle/>
          <a:p>
            <a:r>
              <a:rPr lang="en-US" sz="3200" dirty="0"/>
              <a:t>Broadcast Beam-Steered Optical Wireless Positioning: </a:t>
            </a:r>
            <a:br>
              <a:rPr lang="en-US" sz="3200" dirty="0"/>
            </a:br>
            <a:r>
              <a:rPr lang="en-US" sz="3200" dirty="0"/>
              <a:t>   3D Localization Without Cooperative Alignment</a:t>
            </a:r>
          </a:p>
        </p:txBody>
      </p:sp>
    </p:spTree>
    <p:extLst>
      <p:ext uri="{BB962C8B-B14F-4D97-AF65-F5344CB8AC3E}">
        <p14:creationId xmlns:p14="http://schemas.microsoft.com/office/powerpoint/2010/main" val="154638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2DF71D-6393-E7D6-E403-DA074EABE4D3}"/>
              </a:ext>
            </a:extLst>
          </p:cNvPr>
          <p:cNvSpPr txBox="1"/>
          <p:nvPr/>
        </p:nvSpPr>
        <p:spPr>
          <a:xfrm>
            <a:off x="959224" y="1045871"/>
            <a:ext cx="813098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Beam-steered OWP, as presented in the TCOM paper, requires a cooperative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(K+1)-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measurement to recover distance. This requires PD reorientation,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which prevents broadcast operation for multiple users simultaneously.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SOLUTION: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Exploit the distance information embedded in the K absolute power measurements, assuming that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n_r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known from the receiver IMU.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--&gt; Broadcast 3D positioning without any cooperative measurement.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KEY RESULT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PEB analysis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broadcast_distance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based on K-measurements (proposal)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NLS +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broadcast_distance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equivalent to a profiled MLE and is therefore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near-efficient, reaching the broadcast CRLB, PEB_B.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architecture provides full scalability: N simultaneous receivers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be served with a single LED scan.</a:t>
            </a:r>
          </a:p>
        </p:txBody>
      </p:sp>
    </p:spTree>
    <p:extLst>
      <p:ext uri="{BB962C8B-B14F-4D97-AF65-F5344CB8AC3E}">
        <p14:creationId xmlns:p14="http://schemas.microsoft.com/office/powerpoint/2010/main" val="1722443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3699743-DB5C-5D13-CBE2-82A57308E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580" y="1718577"/>
            <a:ext cx="7854295" cy="34208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8CCCAE-FF92-4965-32C9-BA7E4E44C9C9}"/>
              </a:ext>
            </a:extLst>
          </p:cNvPr>
          <p:cNvSpPr txBox="1"/>
          <p:nvPr/>
        </p:nvSpPr>
        <p:spPr>
          <a:xfrm>
            <a:off x="215153" y="2501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Section III - Broadcast Position Error Bound</a:t>
            </a:r>
          </a:p>
        </p:txBody>
      </p:sp>
    </p:spTree>
    <p:extLst>
      <p:ext uri="{BB962C8B-B14F-4D97-AF65-F5344CB8AC3E}">
        <p14:creationId xmlns:p14="http://schemas.microsoft.com/office/powerpoint/2010/main" val="841515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BACDC5-A20E-800E-681B-4D8FD55F6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93" y="1532874"/>
            <a:ext cx="4367197" cy="35232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07997D-150A-40CA-288D-499D7FA968B4}"/>
              </a:ext>
            </a:extLst>
          </p:cNvPr>
          <p:cNvSpPr txBox="1"/>
          <p:nvPr/>
        </p:nvSpPr>
        <p:spPr>
          <a:xfrm>
            <a:off x="331693" y="2650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Section IV - Parametric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4C766-BB04-7869-FC7C-A5A0ABB207CD}"/>
              </a:ext>
            </a:extLst>
          </p:cNvPr>
          <p:cNvSpPr txBox="1"/>
          <p:nvPr/>
        </p:nvSpPr>
        <p:spPr>
          <a:xfrm>
            <a:off x="331693" y="784966"/>
            <a:ext cx="1909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A. Effect of 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7085B1-B7A0-5151-5BC8-6D17153F53D9}"/>
              </a:ext>
            </a:extLst>
          </p:cNvPr>
          <p:cNvSpPr txBox="1"/>
          <p:nvPr/>
        </p:nvSpPr>
        <p:spPr>
          <a:xfrm>
            <a:off x="6427693" y="784966"/>
            <a:ext cx="1909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B. Effect of tilt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2DA273-57EE-80CE-1B11-98DECE46E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022" y="1335652"/>
            <a:ext cx="4459572" cy="37204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BBEA7CF-E5A2-0C61-1808-716DA6011E0C}"/>
              </a:ext>
            </a:extLst>
          </p:cNvPr>
          <p:cNvSpPr txBox="1"/>
          <p:nvPr/>
        </p:nvSpPr>
        <p:spPr>
          <a:xfrm>
            <a:off x="407893" y="5250006"/>
            <a:ext cx="36665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*TBD :</a:t>
            </a:r>
          </a:p>
          <a:p>
            <a:r>
              <a:rPr lang="en-US" dirty="0">
                <a:highlight>
                  <a:srgbClr val="FFFF00"/>
                </a:highlight>
              </a:rPr>
              <a:t>DEB-optimized orientations ? Or</a:t>
            </a:r>
          </a:p>
          <a:p>
            <a:r>
              <a:rPr lang="en-US" dirty="0">
                <a:highlight>
                  <a:srgbClr val="FFFF00"/>
                </a:highlight>
              </a:rPr>
              <a:t>PEB_B-optimized orientations?</a:t>
            </a:r>
          </a:p>
        </p:txBody>
      </p:sp>
    </p:spTree>
    <p:extLst>
      <p:ext uri="{BB962C8B-B14F-4D97-AF65-F5344CB8AC3E}">
        <p14:creationId xmlns:p14="http://schemas.microsoft.com/office/powerpoint/2010/main" val="1509723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9FC21-1679-ACDE-99D8-D8A534E9B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C02826F-5000-36F1-A739-673BE863E782}"/>
              </a:ext>
            </a:extLst>
          </p:cNvPr>
          <p:cNvSpPr txBox="1"/>
          <p:nvPr/>
        </p:nvSpPr>
        <p:spPr>
          <a:xfrm>
            <a:off x="331693" y="2650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Section IV - Parametric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F443A-3A77-7B86-CF6A-24E2B5EC3D80}"/>
              </a:ext>
            </a:extLst>
          </p:cNvPr>
          <p:cNvSpPr txBox="1"/>
          <p:nvPr/>
        </p:nvSpPr>
        <p:spPr>
          <a:xfrm>
            <a:off x="331693" y="784966"/>
            <a:ext cx="1909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C. Effect of SNR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01B3CC-EFDE-53A1-9897-D2B9A9D23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839" y="1873366"/>
            <a:ext cx="4928623" cy="396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181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58A001-D137-6EFA-2141-ADA7B54DEB19}"/>
              </a:ext>
            </a:extLst>
          </p:cNvPr>
          <p:cNvSpPr txBox="1"/>
          <p:nvPr/>
        </p:nvSpPr>
        <p:spPr>
          <a:xfrm>
            <a:off x="349623" y="2411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Section V - Estimator Performance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A8B136-FCFF-BF90-71B7-48AE9CA14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12" y="1585361"/>
            <a:ext cx="4967762" cy="39279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67C4C0-BC6C-C03D-5958-375A4C9DF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728" y="1648114"/>
            <a:ext cx="4888396" cy="38651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6D1B7D-113B-47A9-1582-463F2188B139}"/>
              </a:ext>
            </a:extLst>
          </p:cNvPr>
          <p:cNvSpPr txBox="1"/>
          <p:nvPr/>
        </p:nvSpPr>
        <p:spPr>
          <a:xfrm>
            <a:off x="6884893" y="5513294"/>
            <a:ext cx="1909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*TBD</a:t>
            </a:r>
          </a:p>
        </p:txBody>
      </p:sp>
    </p:spTree>
    <p:extLst>
      <p:ext uri="{BB962C8B-B14F-4D97-AF65-F5344CB8AC3E}">
        <p14:creationId xmlns:p14="http://schemas.microsoft.com/office/powerpoint/2010/main" val="2124652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33079-2BB5-9502-DC58-5E32CE914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9FE1E6-237C-95F9-CCC0-366D335F3566}"/>
              </a:ext>
            </a:extLst>
          </p:cNvPr>
          <p:cNvSpPr txBox="1"/>
          <p:nvPr/>
        </p:nvSpPr>
        <p:spPr>
          <a:xfrm>
            <a:off x="349623" y="2411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Section V - Estimator Performance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769C42-F4A5-635C-C547-2D6A73191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111" y="1299962"/>
            <a:ext cx="5173760" cy="42580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E6E536-92EA-D09D-0EB8-1B33A4709B39}"/>
              </a:ext>
            </a:extLst>
          </p:cNvPr>
          <p:cNvSpPr txBox="1"/>
          <p:nvPr/>
        </p:nvSpPr>
        <p:spPr>
          <a:xfrm>
            <a:off x="3218328" y="5647764"/>
            <a:ext cx="3666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*TBD (comparison with TCOM)</a:t>
            </a:r>
          </a:p>
        </p:txBody>
      </p:sp>
    </p:spTree>
    <p:extLst>
      <p:ext uri="{BB962C8B-B14F-4D97-AF65-F5344CB8AC3E}">
        <p14:creationId xmlns:p14="http://schemas.microsoft.com/office/powerpoint/2010/main" val="1785745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64ECA9-F994-49E7-56EC-0A4CEC3B6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87" y="1719835"/>
            <a:ext cx="6596107" cy="44601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2FB747-A515-8281-8273-2E59E506AA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154" y="2596418"/>
            <a:ext cx="3731075" cy="37987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5E1169-194D-F275-A331-60B3A7660CFE}"/>
              </a:ext>
            </a:extLst>
          </p:cNvPr>
          <p:cNvSpPr txBox="1"/>
          <p:nvPr/>
        </p:nvSpPr>
        <p:spPr>
          <a:xfrm>
            <a:off x="349623" y="2411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Section V - Estimator Performance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BA5CDF-4848-F241-CDB6-9B7FD46EAA0D}"/>
              </a:ext>
            </a:extLst>
          </p:cNvPr>
          <p:cNvSpPr txBox="1"/>
          <p:nvPr/>
        </p:nvSpPr>
        <p:spPr>
          <a:xfrm>
            <a:off x="331693" y="784966"/>
            <a:ext cx="2698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 case (3 users)</a:t>
            </a:r>
          </a:p>
        </p:txBody>
      </p:sp>
    </p:spTree>
    <p:extLst>
      <p:ext uri="{BB962C8B-B14F-4D97-AF65-F5344CB8AC3E}">
        <p14:creationId xmlns:p14="http://schemas.microsoft.com/office/powerpoint/2010/main" val="2380029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DFA36A-940D-7EB3-D829-B552F7231029}"/>
              </a:ext>
            </a:extLst>
          </p:cNvPr>
          <p:cNvSpPr txBox="1"/>
          <p:nvPr/>
        </p:nvSpPr>
        <p:spPr>
          <a:xfrm>
            <a:off x="663388" y="674393"/>
            <a:ext cx="6096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Section I -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(1 page)</a:t>
            </a:r>
            <a:b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- OWP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art: multi-LED vs. single-LED</a:t>
            </a:r>
            <a:b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Limitation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beam-steered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OWP: cooperative K+1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measurement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does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b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Contribution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: broadcast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+ PEB_B +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near-optimal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estimator</a:t>
            </a:r>
            <a:b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Section II -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Model and Broadcast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(1 page)</a:t>
            </a:r>
            <a:b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Lambertian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channel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brief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recap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TCOM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paper</a:t>
            </a:r>
            <a:b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- Broadcast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: K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measurements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known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n_r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IMU</a:t>
            </a:r>
            <a:b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- Distance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recovery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* (new: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broadcast_distance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Section III - Broadcast Position Error Bound (1 page)</a:t>
            </a:r>
            <a:b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- Broadcast FIM</a:t>
            </a:r>
            <a:b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- PEB_B</a:t>
            </a:r>
            <a:b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Section IV -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Parametric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(1.5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pages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IV-A.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Effect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K,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orientations</a:t>
            </a:r>
            <a:b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IV-B.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Effect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receiver tilt</a:t>
            </a:r>
            <a:b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IV-C.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Effect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SNR</a:t>
            </a:r>
            <a:b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Section V -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Estimator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Performance (1 page)</a:t>
            </a:r>
            <a:b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- NLS/GLS/WLS +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broadcast_distance</a:t>
            </a:r>
            <a:b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Section VI - </a:t>
            </a:r>
            <a:r>
              <a:rPr lang="es-PE" sz="1400" dirty="0" err="1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r>
              <a:rPr lang="es-PE" sz="1400" dirty="0">
                <a:latin typeface="Arial" panose="020B0604020202020204" pitchFamily="34" charset="0"/>
                <a:cs typeface="Arial" panose="020B0604020202020204" pitchFamily="34" charset="0"/>
              </a:rPr>
              <a:t> (0.5 page)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444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421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Broadcast Beam-Steered Optical Wireless Positioning:     3D Localization Without Cooperative Alignment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Acuna</dc:creator>
  <cp:lastModifiedBy>Kevin Acuna</cp:lastModifiedBy>
  <cp:revision>2</cp:revision>
  <dcterms:created xsi:type="dcterms:W3CDTF">2026-05-27T19:13:44Z</dcterms:created>
  <dcterms:modified xsi:type="dcterms:W3CDTF">2026-05-27T19:52:17Z</dcterms:modified>
</cp:coreProperties>
</file>