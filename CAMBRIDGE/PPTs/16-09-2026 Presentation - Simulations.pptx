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2" r:id="rId2"/>
    <p:sldId id="290" r:id="rId3"/>
    <p:sldId id="291" r:id="rId4"/>
    <p:sldId id="296" r:id="rId5"/>
    <p:sldId id="297" r:id="rId6"/>
    <p:sldId id="292" r:id="rId7"/>
    <p:sldId id="294" r:id="rId8"/>
    <p:sldId id="295" r:id="rId9"/>
    <p:sldId id="298" r:id="rId10"/>
    <p:sldId id="299" r:id="rId11"/>
    <p:sldId id="300" r:id="rId12"/>
    <p:sldId id="301" r:id="rId13"/>
    <p:sldId id="302" r:id="rId14"/>
    <p:sldId id="293" r:id="rId15"/>
    <p:sldId id="303" r:id="rId16"/>
    <p:sldId id="305" r:id="rId17"/>
    <p:sldId id="307" r:id="rId18"/>
    <p:sldId id="304" r:id="rId19"/>
    <p:sldId id="309" r:id="rId20"/>
    <p:sldId id="310" r:id="rId21"/>
    <p:sldId id="311" r:id="rId22"/>
    <p:sldId id="312" r:id="rId23"/>
    <p:sldId id="319" r:id="rId24"/>
    <p:sldId id="314" r:id="rId25"/>
    <p:sldId id="313" r:id="rId26"/>
    <p:sldId id="315" r:id="rId27"/>
    <p:sldId id="318" r:id="rId28"/>
    <p:sldId id="316" r:id="rId29"/>
    <p:sldId id="306" r:id="rId3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45D7-1142-852F-D48B-01A7B788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D1945-5146-D35B-E629-FCF12D1CF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2130A-B84E-F59C-12C8-B3C2FC71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30337-F93A-F4C6-94D6-361F26CCC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77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41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motorized-tilt-and-rotation-stage-with-integrated-controller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6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Receiver Diversity -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1CE705B-D92E-DACB-10B0-3FD4193A3A79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3AD34D-2B85-8600-57A7-FBD606CF2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71" y="905435"/>
            <a:ext cx="8119495" cy="5639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4CD617-EF9B-E9C0-7073-0E1B97750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85"/>
          <a:stretch>
            <a:fillRect/>
          </a:stretch>
        </p:blipFill>
        <p:spPr>
          <a:xfrm>
            <a:off x="8681976" y="521507"/>
            <a:ext cx="3110753" cy="57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2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EB46-12C9-1D3D-0656-DEF42285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BDDA8-8B7D-632C-075B-79F2BD84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70" y="804569"/>
            <a:ext cx="9733259" cy="52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6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2517-246F-B532-19F6-806041C0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B0848C-82BA-A095-25D2-24320194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632" y="1473057"/>
            <a:ext cx="3332721" cy="3438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4C261-B504-D59E-9F01-AC93DF96B6C0}"/>
              </a:ext>
            </a:extLst>
          </p:cNvPr>
          <p:cNvSpPr txBox="1"/>
          <p:nvPr/>
        </p:nvSpPr>
        <p:spPr>
          <a:xfrm>
            <a:off x="788893" y="253053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following analysis, we consider K PD reorientations with a fixed tilt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 spaced in azimuth.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88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3113-4E2D-1AC5-149E-8608702A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9097D-60EB-652B-6D08-4AC5B36D62ED}"/>
              </a:ext>
            </a:extLst>
          </p:cNvPr>
          <p:cNvSpPr txBox="1"/>
          <p:nvPr/>
        </p:nvSpPr>
        <p:spPr>
          <a:xfrm>
            <a:off x="728553" y="3089836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20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25118-9D00-CE0C-1E10-BDFB9AF9F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4" y="0"/>
            <a:ext cx="10534192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34740-17F4-40D6-D2F2-0908A3786724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=30°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34740-17F4-40D6-D2F2-0908A378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53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6C8A-DC6E-4BBB-BCED-598061B8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033A1-0D13-E791-7EF5-795484A96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3" y="0"/>
            <a:ext cx="10534193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35751-A7B9-665B-12C8-3F7E9CD7A0C4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=45°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35751-A7B9-665B-12C8-3F7E9CD7A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25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BDE77-C772-A6E8-69DA-835371D77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4" y="0"/>
            <a:ext cx="105341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CF5DDE-AAD5-133E-519C-2CAFFD9BA2B8}"/>
              </a:ext>
            </a:extLst>
          </p:cNvPr>
          <p:cNvSpPr/>
          <p:nvPr/>
        </p:nvSpPr>
        <p:spPr>
          <a:xfrm>
            <a:off x="3962401" y="699247"/>
            <a:ext cx="2017058" cy="39444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E6145-D5D2-2374-4581-83DD27F49D8D}"/>
              </a:ext>
            </a:extLst>
          </p:cNvPr>
          <p:cNvSpPr/>
          <p:nvPr/>
        </p:nvSpPr>
        <p:spPr>
          <a:xfrm>
            <a:off x="6355978" y="206189"/>
            <a:ext cx="1945340" cy="30480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278F8-F6BA-DDA6-D70D-780F756A8CC1}"/>
              </a:ext>
            </a:extLst>
          </p:cNvPr>
          <p:cNvSpPr/>
          <p:nvPr/>
        </p:nvSpPr>
        <p:spPr>
          <a:xfrm>
            <a:off x="2456330" y="2483224"/>
            <a:ext cx="3424517" cy="1165411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D59204-C259-6BB2-3709-841825146C99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D59204-C259-6BB2-3709-84182514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EF16-6152-CBAC-98EC-A92EAB0B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17C72-280F-349A-E73D-19A4953824A1}"/>
              </a:ext>
            </a:extLst>
          </p:cNvPr>
          <p:cNvSpPr txBox="1"/>
          <p:nvPr/>
        </p:nvSpPr>
        <p:spPr>
          <a:xfrm>
            <a:off x="728553" y="3089836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K=3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4CD39-ED0C-4D3A-1911-BD1C789E2FA4}"/>
              </a:ext>
            </a:extLst>
          </p:cNvPr>
          <p:cNvSpPr txBox="1"/>
          <p:nvPr/>
        </p:nvSpPr>
        <p:spPr>
          <a:xfrm>
            <a:off x="728553" y="3768163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(minimal configuration)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14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48055D-A875-11A7-E477-9C29B7B44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" y="4700"/>
            <a:ext cx="10561637" cy="6853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B42032-462F-1FC5-AB9A-F7D068B407D0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=30°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B42032-462F-1FC5-AB9A-F7D068B4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55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758D-1CAF-DDCF-A0E5-95BF8E8B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994DFF-809B-23B0-23EC-6160448556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60" y="0"/>
            <a:ext cx="1056887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74100A-7BB6-8CF0-082B-A432F59DB793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=45°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74100A-7BB6-8CF0-082B-A432F59D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81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6F81-E3D7-91A4-11C0-10389E0A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016104-A464-D0CC-F145-006FB5B658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02" y="-724"/>
            <a:ext cx="10569995" cy="68587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6E3103-CE15-BFF0-7A39-293E2CFBBC2C}"/>
              </a:ext>
            </a:extLst>
          </p:cNvPr>
          <p:cNvSpPr/>
          <p:nvPr/>
        </p:nvSpPr>
        <p:spPr>
          <a:xfrm>
            <a:off x="2079812" y="1380565"/>
            <a:ext cx="1873624" cy="231289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7FD937-5015-14B5-23F7-994E7443BB13}"/>
              </a:ext>
            </a:extLst>
          </p:cNvPr>
          <p:cNvSpPr/>
          <p:nvPr/>
        </p:nvSpPr>
        <p:spPr>
          <a:xfrm>
            <a:off x="2079812" y="3918301"/>
            <a:ext cx="1873624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69980-DC61-BD6C-82DF-A2ED7761DE11}"/>
              </a:ext>
            </a:extLst>
          </p:cNvPr>
          <p:cNvSpPr/>
          <p:nvPr/>
        </p:nvSpPr>
        <p:spPr>
          <a:xfrm>
            <a:off x="6275295" y="197948"/>
            <a:ext cx="1873624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CD412D-7F3C-0F1E-1886-5DF3E25FC41F}"/>
              </a:ext>
            </a:extLst>
          </p:cNvPr>
          <p:cNvSpPr/>
          <p:nvPr/>
        </p:nvSpPr>
        <p:spPr>
          <a:xfrm>
            <a:off x="3953436" y="717901"/>
            <a:ext cx="2017059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A69667-2324-3BF8-DAC1-DF22C8E35822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A69667-2324-3BF8-DAC1-DF22C8E35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53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87AD-6083-442C-09E8-3EAAFAA6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8810FB-1809-134E-2A4B-5388EEAE5660}"/>
              </a:ext>
            </a:extLst>
          </p:cNvPr>
          <p:cNvSpPr txBox="1"/>
          <p:nvPr/>
        </p:nvSpPr>
        <p:spPr>
          <a:xfrm>
            <a:off x="728553" y="3089836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of K at different tilt angles θ</a:t>
            </a:r>
          </a:p>
        </p:txBody>
      </p:sp>
    </p:spTree>
    <p:extLst>
      <p:ext uri="{BB962C8B-B14F-4D97-AF65-F5344CB8AC3E}">
        <p14:creationId xmlns:p14="http://schemas.microsoft.com/office/powerpoint/2010/main" val="153121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D5B04-2B65-D78B-B2F7-132CF55D9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54" y="0"/>
            <a:ext cx="1127829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52C983-7956-7344-1A53-4B81EFA3DB5A}"/>
              </a:ext>
            </a:extLst>
          </p:cNvPr>
          <p:cNvSpPr/>
          <p:nvPr/>
        </p:nvSpPr>
        <p:spPr>
          <a:xfrm>
            <a:off x="2447364" y="5988424"/>
            <a:ext cx="1810871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A1EA3-3700-9DF9-8530-862562DC8B62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59B26-FD09-A775-DFFB-94CF20D7E8DF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θ=30°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0E3E65-E148-A955-3569-7FE7D6C692E5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0E3E65-E148-A955-3569-7FE7D6C69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572641C-008A-99F7-C992-A8A97C0C663A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83DC-754F-FF10-E995-FE7DF7C0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2260E-ABDC-B2CF-D9C7-172238F90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20" y="-7547"/>
            <a:ext cx="11282359" cy="68604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B59CC-D5D2-B482-9D87-314E635787C8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θ=10°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A64DFF0-26ED-5CC2-5A26-8018F0DC47F3}"/>
              </a:ext>
            </a:extLst>
          </p:cNvPr>
          <p:cNvSpPr/>
          <p:nvPr/>
        </p:nvSpPr>
        <p:spPr>
          <a:xfrm>
            <a:off x="5862917" y="5952565"/>
            <a:ext cx="1810871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28E10-F490-47AD-652D-AE84E3629652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340E6-6C23-F8AF-1013-60A86E1A23C4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B5C7-96CC-A91A-B129-7A86F25B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4CD194-384E-61EB-D98A-57E35C6C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54" y="0"/>
            <a:ext cx="1127829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83ECBA-4A78-C228-ECC3-334C6F623778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B981F-82EB-8417-6E67-F97BEC34C9F9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B981F-82EB-8417-6E67-F97BEC34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0EEA5DC-41D9-E3BC-8CA2-C11BE41C91A1}"/>
              </a:ext>
            </a:extLst>
          </p:cNvPr>
          <p:cNvSpPr/>
          <p:nvPr/>
        </p:nvSpPr>
        <p:spPr>
          <a:xfrm>
            <a:off x="11735146" y="5979460"/>
            <a:ext cx="456854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D1E9-0DC4-135A-E883-6690631B4E25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7C4DE0-8B90-3B63-6069-49B22BE3B07E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B08-C3C1-0FBA-ECD4-B6D78A8B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C35E4C-704D-6427-7E74-40949B7FDC9B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of A_PD</a:t>
            </a:r>
          </a:p>
        </p:txBody>
      </p:sp>
    </p:spTree>
    <p:extLst>
      <p:ext uri="{BB962C8B-B14F-4D97-AF65-F5344CB8AC3E}">
        <p14:creationId xmlns:p14="http://schemas.microsoft.com/office/powerpoint/2010/main" val="36181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AA44B-16DD-5F56-0D84-207CE98EC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07"/>
          <a:stretch>
            <a:fillRect/>
          </a:stretch>
        </p:blipFill>
        <p:spPr>
          <a:xfrm>
            <a:off x="1149452" y="1769497"/>
            <a:ext cx="9731730" cy="3319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3A94C-C0D5-DDFF-2462-FC9A3D3BE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5" b="281"/>
          <a:stretch>
            <a:fillRect/>
          </a:stretch>
        </p:blipFill>
        <p:spPr>
          <a:xfrm>
            <a:off x="1825303" y="5088503"/>
            <a:ext cx="8541394" cy="26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614A7-AFF8-4D7B-31E0-96D22A7A734B}"/>
              </a:ext>
            </a:extLst>
          </p:cNvPr>
          <p:cNvSpPr txBox="1"/>
          <p:nvPr/>
        </p:nvSpPr>
        <p:spPr>
          <a:xfrm>
            <a:off x="0" y="5074"/>
            <a:ext cx="5253318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θ=30°, FOV=85, 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34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5505-646D-4A8A-62B7-6F4B121D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60AE63-1224-DDF1-AFBB-B2562B7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5" b="281"/>
          <a:stretch>
            <a:fillRect/>
          </a:stretch>
        </p:blipFill>
        <p:spPr>
          <a:xfrm>
            <a:off x="1825303" y="5088503"/>
            <a:ext cx="8541394" cy="26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31C8E-611D-7E96-CFCE-E920059A823A}"/>
              </a:ext>
            </a:extLst>
          </p:cNvPr>
          <p:cNvSpPr txBox="1"/>
          <p:nvPr/>
        </p:nvSpPr>
        <p:spPr>
          <a:xfrm>
            <a:off x="0" y="5074"/>
            <a:ext cx="5253318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θ=10°, FOV=85, 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8A20-3FDF-D46A-4564-448CBD164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17"/>
          <a:stretch>
            <a:fillRect/>
          </a:stretch>
        </p:blipFill>
        <p:spPr>
          <a:xfrm>
            <a:off x="1357226" y="1834559"/>
            <a:ext cx="9477547" cy="318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8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9160-CF99-3452-F7B0-1EE92346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CDFB1-0EF2-3E57-2617-C612716AC3EC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Heatmap (errors)</a:t>
            </a:r>
          </a:p>
        </p:txBody>
      </p:sp>
    </p:spTree>
    <p:extLst>
      <p:ext uri="{BB962C8B-B14F-4D97-AF65-F5344CB8AC3E}">
        <p14:creationId xmlns:p14="http://schemas.microsoft.com/office/powerpoint/2010/main" val="3760306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7BE3-A5DA-0560-A6F1-955EDA9C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278283-8503-2C5D-ED93-831455E78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838"/>
            <a:ext cx="12159293" cy="43943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2C24F-4E22-923C-F425-E52E66A473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θ=10°, FOV=85, 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2C24F-4E22-923C-F425-E52E66A47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blipFill>
                <a:blip r:embed="rId3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28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D8A2-16F6-A6EB-D002-255EEEEF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7CE6D3-4BDA-426F-A782-C336AFE9079A}"/>
                  </a:ext>
                </a:extLst>
              </p:cNvPr>
              <p:cNvSpPr txBox="1"/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θ=20°, FOV=85, 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7CE6D3-4BDA-426F-A782-C336AFE9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20C9169-22E8-BA4D-A918-1CA736584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8790"/>
            <a:ext cx="12176164" cy="440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30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D743-9671-4E0F-148C-494984E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0CE1F-FA88-FF00-4DF4-A483158AC92D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</a:t>
            </a:r>
          </a:p>
        </p:txBody>
      </p:sp>
    </p:spTree>
    <p:extLst>
      <p:ext uri="{BB962C8B-B14F-4D97-AF65-F5344CB8AC3E}">
        <p14:creationId xmlns:p14="http://schemas.microsoft.com/office/powerpoint/2010/main" val="2341486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2B6A52-4D27-8F05-A734-B034EE343A7F}"/>
                  </a:ext>
                </a:extLst>
              </p:cNvPr>
              <p:cNvSpPr txBox="1"/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2B6A52-4D27-8F05-A734-B034EE343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1CE1AE6-86A4-983A-1909-911FF4B44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59"/>
          <a:stretch>
            <a:fillRect/>
          </a:stretch>
        </p:blipFill>
        <p:spPr>
          <a:xfrm>
            <a:off x="769396" y="904625"/>
            <a:ext cx="4681145" cy="56396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5F5F52-AE3E-2771-BA63-5F28234AF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6503"/>
          <a:stretch>
            <a:fillRect/>
          </a:stretch>
        </p:blipFill>
        <p:spPr>
          <a:xfrm>
            <a:off x="5535137" y="917321"/>
            <a:ext cx="4630840" cy="5635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740FB-E89B-720E-544E-C95007F6A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17" r="489"/>
          <a:stretch>
            <a:fillRect/>
          </a:stretch>
        </p:blipFill>
        <p:spPr>
          <a:xfrm>
            <a:off x="10363200" y="931517"/>
            <a:ext cx="978722" cy="56358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374D26-EE27-CADA-82F5-A12C712B3133}"/>
                  </a:ext>
                </a:extLst>
              </p:cNvPr>
              <p:cNvSpPr txBox="1"/>
              <p:nvPr/>
            </p:nvSpPr>
            <p:spPr>
              <a:xfrm>
                <a:off x="6015318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K=3,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374D26-EE27-CADA-82F5-A12C712B3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18" y="0"/>
                <a:ext cx="4921624" cy="763863"/>
              </a:xfrm>
              <a:prstGeom prst="rect">
                <a:avLst/>
              </a:prstGeom>
              <a:blipFill>
                <a:blip r:embed="rId5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396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A6F6-7B81-69C2-A6FB-AB3C21C0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FC049F-7038-F482-1BE6-F5F0049C071A}"/>
                  </a:ext>
                </a:extLst>
              </p:cNvPr>
              <p:cNvSpPr txBox="1"/>
              <p:nvPr/>
            </p:nvSpPr>
            <p:spPr>
              <a:xfrm>
                <a:off x="1304364" y="1887702"/>
                <a:ext cx="9583271" cy="2246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 a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fully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visible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uniform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of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E" sz="2000" i="1" kern="100">
                        <a:effectLst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s-PE" sz="2000" i="1" kern="100">
                        <a:effectLst/>
                        <a:ea typeface="Aptos" panose="020B0004020202020204" pitchFamily="34" charset="0"/>
                        <a:cs typeface="Arial" panose="020B0604020202020204" pitchFamily="34" charset="0"/>
                      </a:rPr>
                      <m:t>≥3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PD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orientations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</a:t>
                </a:r>
                <a:r>
                  <a:rPr lang="es-PE" sz="2000" b="1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small</a:t>
                </a:r>
                <a:r>
                  <a:rPr lang="es-PE" sz="20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b="1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common</a:t>
                </a:r>
                <a:r>
                  <a:rPr lang="es-PE" sz="20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tilt </a:t>
                </a:r>
                <a14:m>
                  <m:oMath xmlns:m="http://schemas.openxmlformats.org/officeDocument/2006/math">
                    <m:r>
                      <a:rPr lang="es-PE" sz="2000" b="1" i="1" kern="100">
                        <a:effectLst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assuming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homoscedastic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Gaussian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noise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s-PE" sz="2000" i="1" kern="100">
                        <a:effectLst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independent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samples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per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orientation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fixing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receiver position and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remaining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optical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parameters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PEB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scales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asymptotically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as:</a:t>
                </a:r>
              </a:p>
              <a:p>
                <a:pPr algn="just">
                  <a:buNone/>
                </a:pP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000" kern="100">
                          <a:effectLst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PEB</m:t>
                      </m:r>
                      <m:r>
                        <a:rPr lang="es-PE" sz="2000" i="1" kern="100">
                          <a:effectLst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∝ </m:t>
                      </m:r>
                      <m:f>
                        <m:fPr>
                          <m:ctrlPr>
                            <a:rPr lang="es-PE" sz="2000" i="1" kern="100">
                              <a:effectLst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2000" i="1" kern="100">
                              <a:effectLst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𝑃𝐷</m:t>
                              </m:r>
                            </m:sub>
                          </m:sSub>
                          <m:r>
                            <a:rPr lang="es-PE" sz="2000" i="1" kern="100">
                              <a:effectLst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𝜃</m:t>
                          </m:r>
                          <m:rad>
                            <m:radPr>
                              <m:degHide m:val="on"/>
                              <m:ctrlP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PE" sz="2000" i="1" kern="100">
                                  <a:effectLst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𝑁𝐾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PE" sz="12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FC049F-7038-F482-1BE6-F5F0049C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64" y="1887702"/>
                <a:ext cx="9583271" cy="2246256"/>
              </a:xfrm>
              <a:prstGeom prst="rect">
                <a:avLst/>
              </a:prstGeom>
              <a:blipFill>
                <a:blip r:embed="rId2"/>
                <a:stretch>
                  <a:fillRect l="-700" t="-1630" r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389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CE4A-09A4-756B-35C6-6B42F8F3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E45F90-FFFA-8D09-1760-12C444673F38}"/>
              </a:ext>
            </a:extLst>
          </p:cNvPr>
          <p:cNvSpPr txBox="1"/>
          <p:nvPr/>
        </p:nvSpPr>
        <p:spPr>
          <a:xfrm>
            <a:off x="665800" y="771556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for small tilt (</a:t>
            </a:r>
            <a:r>
              <a:rPr lang="es-PE" sz="3600" b="1" noProof="1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θ=3°</a:t>
            </a: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&#10;       Figure 1.1&amp;nbsp;&amp;nbsp;Rotation and Tilt Motion Illustration&#10;    ">
            <a:extLst>
              <a:ext uri="{FF2B5EF4-FFF2-40B4-BE49-F238E27FC236}">
                <a16:creationId xmlns:a16="http://schemas.microsoft.com/office/drawing/2014/main" id="{154D6BB5-8C15-19A9-F57A-C9E2E5BBE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939" y="2002658"/>
            <a:ext cx="6600122" cy="40837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B87A7D-0701-7696-DED7-3712AAFC550F}"/>
              </a:ext>
            </a:extLst>
          </p:cNvPr>
          <p:cNvSpPr txBox="1"/>
          <p:nvPr/>
        </p:nvSpPr>
        <p:spPr>
          <a:xfrm>
            <a:off x="7192106" y="5498520"/>
            <a:ext cx="1530553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24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MTRS</a:t>
            </a:r>
            <a:endParaRPr lang="en-US" sz="24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172E7-D6BE-A076-28C2-C9BF3499E871}"/>
              </a:ext>
            </a:extLst>
          </p:cNvPr>
          <p:cNvSpPr txBox="1"/>
          <p:nvPr/>
        </p:nvSpPr>
        <p:spPr>
          <a:xfrm>
            <a:off x="0" y="6443781"/>
            <a:ext cx="9502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https://www.thorlabs.com/motorized-tilt-and-rotation-stage-with-integrated-controller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25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9E34-E9FF-F628-D542-2B8C5967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17D8E9-57BF-2027-3A08-201872C9E06D}"/>
                  </a:ext>
                </a:extLst>
              </p:cNvPr>
              <p:cNvSpPr txBox="1"/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θ=3°, K=3,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17D8E9-57BF-2027-3A08-201872C9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049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0B5F-F90B-66BC-A3F0-1C47FC2D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AF1E75-4BAB-3BDB-ABAE-EEA54EFE9C9E}"/>
                  </a:ext>
                </a:extLst>
              </p:cNvPr>
              <p:cNvSpPr txBox="1"/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θ=3°, 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AF1E75-4BAB-3BDB-ABAE-EEA54EFE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183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8589-580A-04B9-861E-9321D1FE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8FA67E-846B-9578-4127-40BC7D074A44}"/>
              </a:ext>
            </a:extLst>
          </p:cNvPr>
          <p:cNvSpPr txBox="1"/>
          <p:nvPr/>
        </p:nvSpPr>
        <p:spPr>
          <a:xfrm>
            <a:off x="728553" y="203201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8F028-0B26-AE46-7C8D-633CE68CB7F3}"/>
              </a:ext>
            </a:extLst>
          </p:cNvPr>
          <p:cNvSpPr txBox="1"/>
          <p:nvPr/>
        </p:nvSpPr>
        <p:spPr>
          <a:xfrm>
            <a:off x="728552" y="1117600"/>
            <a:ext cx="10734893" cy="272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lnSpc>
                <a:spcPct val="115000"/>
              </a:lnSpc>
              <a:spcAft>
                <a:spcPts val="500"/>
              </a:spcAft>
              <a:buAutoNum type="arabicPeriod"/>
            </a:pPr>
            <a:r>
              <a:rPr lang="en-US" sz="28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recomienda un Angulo de potencia media de 45° a 60°.</a:t>
            </a:r>
          </a:p>
          <a:p>
            <a:pPr marL="742950" indent="-742950">
              <a:lnSpc>
                <a:spcPct val="115000"/>
              </a:lnSpc>
              <a:spcAft>
                <a:spcPts val="500"/>
              </a:spcAft>
              <a:buAutoNum type="arabicPeriod"/>
            </a:pPr>
            <a:r>
              <a:rPr lang="en-US" sz="28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menor inclinación se require aumentar la cantidad K de reorientaciones para compensar la Perdida de información.</a:t>
            </a:r>
          </a:p>
          <a:p>
            <a:pPr marL="742950" indent="-742950">
              <a:lnSpc>
                <a:spcPct val="115000"/>
              </a:lnSpc>
              <a:spcAft>
                <a:spcPts val="500"/>
              </a:spcAft>
              <a:buAutoNum type="arabicPeriod"/>
            </a:pPr>
            <a:r>
              <a:rPr lang="en-US" sz="28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recomienda una inclinación entre 20 y 30°, con un K entre 5 y 9.</a:t>
            </a:r>
          </a:p>
          <a:p>
            <a:pPr marL="742950" indent="-742950">
              <a:lnSpc>
                <a:spcPct val="115000"/>
              </a:lnSpc>
              <a:spcAft>
                <a:spcPts val="500"/>
              </a:spcAft>
              <a:buAutoNum type="arabicPeriod"/>
            </a:pPr>
            <a:r>
              <a:rPr lang="en-US" sz="28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Incrementar el Area del PD ayuda a reducer el error.</a:t>
            </a:r>
          </a:p>
        </p:txBody>
      </p:sp>
    </p:spTree>
    <p:extLst>
      <p:ext uri="{BB962C8B-B14F-4D97-AF65-F5344CB8AC3E}">
        <p14:creationId xmlns:p14="http://schemas.microsoft.com/office/powerpoint/2010/main" val="351325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335</Words>
  <Application>Microsoft Office PowerPoint</Application>
  <PresentationFormat>Widescreen</PresentationFormat>
  <Paragraphs>46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14</cp:revision>
  <dcterms:created xsi:type="dcterms:W3CDTF">2026-03-12T22:45:35Z</dcterms:created>
  <dcterms:modified xsi:type="dcterms:W3CDTF">2026-09-15T16:34:54Z</dcterms:modified>
</cp:coreProperties>
</file>